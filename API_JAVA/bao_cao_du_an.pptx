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AutoShape 3" id="3"/>
          <p:cNvSpPr/>
          <p:nvPr/>
        </p:nvSpPr>
        <p:spPr>
          <a:xfrm>
            <a:off x="381000" y="381000"/>
            <a:ext cx="11430000" cy="6096000"/>
          </a:xfrm>
          <a:prstGeom prst="rect">
            <a:avLst/>
          </a:prstGeom>
          <a:noFill/>
          <a:ln w="25400">
            <a:solidFill>
              <a:srgbClr val="00F2FF">
                <a:alpha val="58824"/>
              </a:srgbClr>
            </a:solidFill>
          </a:ln>
        </p:spPr>
      </p:sp>
      <p:sp>
        <p:nvSpPr>
          <p:cNvPr name="TextBox 4" id="4"/>
          <p:cNvSpPr txBox="true"/>
          <p:nvPr/>
        </p:nvSpPr>
        <p:spPr>
          <a:xfrm>
            <a:off x="1016000" y="1905000"/>
            <a:ext cx="10160000" cy="1524000"/>
          </a:xfrm>
          <a:prstGeom prst="rect">
            <a:avLst/>
          </a:prstGeom>
        </p:spPr>
        <p:txBody>
          <a:bodyPr anchor="t" rtlCol="false"/>
          <a:lstStyle/>
          <a:p>
            <a:pPr algn="l">
              <a:defRPr/>
            </a:pPr>
            <a:r>
              <a:rPr lang="en-US"/>
              <a:t/>
            </a:r>
            <a:endParaRPr lang="en-US" sz="1100"/>
          </a:p>
          <a:p>
            <a:pPr algn="ctr"/>
            <a:r>
              <a:rPr lang="en-US" sz="3600" b="true">
                <a:solidFill>
                  <a:srgbClr val="00F2FF"/>
                </a:solidFill>
                <a:latin typeface="Segoe UI"/>
              </a:rPr>
              <a:t>BÁO CÁO DỰ ÁN HỆ THỐNG QUẢN LÝ KHO</a:t>
            </a:r>
          </a:p>
        </p:txBody>
      </p:sp>
      <p:sp>
        <p:nvSpPr>
          <p:cNvPr name="TextBox 5" id="5"/>
          <p:cNvSpPr txBox="true"/>
          <p:nvPr/>
        </p:nvSpPr>
        <p:spPr>
          <a:xfrm>
            <a:off x="1016000" y="3302000"/>
            <a:ext cx="10160000" cy="1016000"/>
          </a:xfrm>
          <a:prstGeom prst="rect">
            <a:avLst/>
          </a:prstGeom>
        </p:spPr>
        <p:txBody>
          <a:bodyPr anchor="t" rtlCol="false"/>
          <a:lstStyle/>
          <a:p>
            <a:pPr algn="l">
              <a:defRPr/>
            </a:pPr>
            <a:r>
              <a:rPr lang="en-US"/>
              <a:t/>
            </a:r>
            <a:endParaRPr lang="en-US" sz="1100"/>
          </a:p>
          <a:p>
            <a:pPr algn="ctr"/>
            <a:r>
              <a:rPr lang="en-US" sz="1800" i="true">
                <a:solidFill>
                  <a:srgbClr val="FFAA00"/>
                </a:solidFill>
                <a:latin typeface="Segoe UI"/>
              </a:rPr>
              <a:t>Thiết kế kiến trúc, nghiệp vụ xuất nhập kho và phân quyền bảo mật</a:t>
            </a:r>
          </a:p>
        </p:txBody>
      </p:sp>
      <p:sp>
        <p:nvSpPr>
          <p:cNvPr name="TextBox 6" id="6"/>
          <p:cNvSpPr txBox="true"/>
          <p:nvPr/>
        </p:nvSpPr>
        <p:spPr>
          <a:xfrm>
            <a:off x="1016000" y="5080000"/>
            <a:ext cx="10160000" cy="1016000"/>
          </a:xfrm>
          <a:prstGeom prst="rect">
            <a:avLst/>
          </a:prstGeom>
        </p:spPr>
        <p:txBody>
          <a:bodyPr anchor="t" rtlCol="false"/>
          <a:lstStyle/>
          <a:p>
            <a:pPr algn="l">
              <a:defRPr/>
            </a:pPr>
            <a:r>
              <a:rPr lang="en-US"/>
              <a:t/>
            </a:r>
            <a:endParaRPr lang="en-US" sz="1100"/>
          </a:p>
          <a:p>
            <a:pPr algn="ctr"/>
            <a:r>
              <a:rPr lang="en-US" sz="1400">
                <a:solidFill>
                  <a:srgbClr val="A0A0A0"/>
                </a:solidFill>
                <a:latin typeface="Segoe UI"/>
              </a:rPr>
              <a:t>Công nghệ sử dụng: Spring Boot, Spring Security, MySQL, Thymeleaf
Ngày báo cáo: Tháng 6/2026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TỔNG QUAN &amp; MỤC TIÊU DỰ ÁN</a:t>
            </a:r>
          </a:p>
        </p:txBody>
      </p:sp>
      <p:sp>
        <p:nvSpPr>
          <p:cNvPr name="AutoShape 4" id="4"/>
          <p:cNvSpPr/>
          <p:nvPr/>
        </p:nvSpPr>
        <p:spPr>
          <a:xfrm>
            <a:off x="635000" y="1143000"/>
            <a:ext cx="10922000" cy="25400"/>
          </a:xfrm>
          <a:prstGeom prst="rect">
            <a:avLst/>
          </a:prstGeom>
          <a:solidFill>
            <a:srgbClr val="00F2FF">
              <a:alpha val="39216"/>
            </a:srgbClr>
          </a:solidFill>
          <a:ln>
            <a:noFill/>
          </a:ln>
        </p:spPr>
      </p:sp>
      <p:sp>
        <p:nvSpPr>
          <p:cNvPr name="TextBox 5" id="5"/>
          <p:cNvSpPr txBox="true"/>
          <p:nvPr/>
        </p:nvSpPr>
        <p:spPr>
          <a:xfrm>
            <a:off x="1016000" y="1651000"/>
            <a:ext cx="10160000" cy="4445000"/>
          </a:xfrm>
          <a:prstGeom prst="rect">
            <a:avLst/>
          </a:prstGeom>
        </p:spPr>
        <p:txBody>
          <a:bodyPr anchor="t" rtlCol="false"/>
          <a:lstStyle/>
          <a:p>
            <a:pPr algn="l">
              <a:defRPr/>
            </a:pPr>
            <a:r>
              <a:rPr lang="en-US"/>
              <a:t/>
            </a:r>
            <a:endParaRPr lang="en-US" sz="1100"/>
          </a:p>
          <a:p>
            <a:pPr>
              <a:buClr>
                <a:srgbClr val="FFAA00"/>
              </a:buClr>
              <a:buFont typeface="Arial"/>
              <a:buChar char="•"/>
            </a:pPr>
            <a:r>
              <a:rPr lang="en-US" sz="1800">
                <a:solidFill>
                  <a:srgbClr val="E0E0E0"/>
                </a:solidFill>
                <a:latin typeface="Segoe UI"/>
              </a:rPr>
              <a:t>  Chuyển đổi số hoạt động quản lý kho hàng: Số hóa quy trình Nhập kho và Xuất kho một cách chặt chẽ và nhất quán.</a:t>
            </a:r>
          </a:p>
          <a:p>
            <a:pPr>
              <a:buClr>
                <a:srgbClr val="FFAA00"/>
              </a:buClr>
              <a:buFont typeface="Arial"/>
              <a:buChar char="•"/>
            </a:pPr>
            <a:r>
              <a:rPr lang="en-US" sz="1800">
                <a:solidFill>
                  <a:srgbClr val="E0E0E0"/>
                </a:solidFill>
                <a:latin typeface="Segoe UI"/>
              </a:rPr>
              <a:t>  Giám sát tồn kho thực tế: Cung cấp số liệu chính xác theo thời gian thực (Real-time tracking), chống thất thoát hàng hóa.</a:t>
            </a:r>
          </a:p>
          <a:p>
            <a:pPr>
              <a:buClr>
                <a:srgbClr val="FFAA00"/>
              </a:buClr>
              <a:buFont typeface="Arial"/>
              <a:buChar char="•"/>
            </a:pPr>
            <a:r>
              <a:rPr lang="en-US" sz="1800">
                <a:solidFill>
                  <a:srgbClr val="E0E0E0"/>
                </a:solidFill>
                <a:latin typeface="Segoe UI"/>
              </a:rPr>
              <a:t>  Bảo mật và Phân quyền nghiêm ngặt: Tách biệt rõ ràng vai trò ADMIN (Quản trị) và STAFF (Nhân viên vận hành).</a:t>
            </a:r>
          </a:p>
          <a:p>
            <a:pPr>
              <a:buClr>
                <a:srgbClr val="FFAA00"/>
              </a:buClr>
              <a:buFont typeface="Arial"/>
              <a:buChar char="•"/>
            </a:pPr>
            <a:r>
              <a:rPr lang="en-US" sz="1800">
                <a:solidFill>
                  <a:srgbClr val="E0E0E0"/>
                </a:solidFill>
                <a:latin typeface="Segoe UI"/>
              </a:rPr>
              <a:t>  Giao diện trực quan tối tân: Xây dựng giao diện Cyberpunk HUD Dashboard hiển thị KPIs và biểu đồ động (doanh thu, chi phí, cơ cấu mặt hàng).</a:t>
            </a:r>
          </a:p>
          <a:p>
            <a:pPr>
              <a:buClr>
                <a:srgbClr val="FFAA00"/>
              </a:buClr>
              <a:buFont typeface="Arial"/>
              <a:buChar char="•"/>
            </a:pPr>
            <a:r>
              <a:rPr lang="en-US" sz="1800">
                <a:solidFill>
                  <a:srgbClr val="E0E0E0"/>
                </a:solidFill>
                <a:latin typeface="Segoe UI"/>
              </a:rPr>
              <a:t>  Công cụ quản lý bổ trợ chuyên nghiệp: Hỗ trợ tải tệp báo cáo Excel định dạng chuyên nghiệp tự động giãn cột và chèn công thức tính tổng động.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KIẾN TRÚC HỆ THỐNG PHÂN RÃ</a:t>
            </a:r>
          </a:p>
        </p:txBody>
      </p:sp>
      <p:sp>
        <p:nvSpPr>
          <p:cNvPr name="AutoShape 4" id="4"/>
          <p:cNvSpPr/>
          <p:nvPr/>
        </p:nvSpPr>
        <p:spPr>
          <a:xfrm>
            <a:off x="635000" y="1143000"/>
            <a:ext cx="10922000" cy="25400"/>
          </a:xfrm>
          <a:prstGeom prst="rect">
            <a:avLst/>
          </a:prstGeom>
          <a:solidFill>
            <a:srgbClr val="00F2FF">
              <a:alpha val="39216"/>
            </a:srgbClr>
          </a:solidFill>
          <a:ln>
            <a:noFill/>
          </a:ln>
        </p:spPr>
      </p:sp>
      <p:sp>
        <p:nvSpPr>
          <p:cNvPr name="TextBox 5" id="5"/>
          <p:cNvSpPr txBox="true"/>
          <p:nvPr/>
        </p:nvSpPr>
        <p:spPr>
          <a:xfrm>
            <a:off x="1016000" y="1778000"/>
            <a:ext cx="4826000" cy="3810000"/>
          </a:xfrm>
          <a:prstGeom prst="rect">
            <a:avLst/>
          </a:prstGeom>
        </p:spPr>
        <p:txBody>
          <a:bodyPr anchor="t" rtlCol="false"/>
          <a:lstStyle/>
          <a:p>
            <a:pPr algn="l">
              <a:defRPr/>
            </a:pPr>
            <a:r>
              <a:rPr lang="en-US"/>
              <a:t/>
            </a:r>
            <a:endParaRPr lang="en-US" sz="1100"/>
          </a:p>
          <a:p>
            <a:r>
              <a:rPr lang="en-US" sz="2000" b="true">
                <a:solidFill>
                  <a:srgbClr val="FFAA00"/>
                </a:solidFill>
                <a:latin typeface="Segoe UI"/>
              </a:rPr>
              <a:t>FRONTEND (PORT 8081)</a:t>
            </a:r>
          </a:p>
          <a:p>
            <a:pPr>
              <a:buClr>
                <a:srgbClr val="00F2FF"/>
              </a:buClr>
              <a:buFont typeface="Arial"/>
              <a:buChar char="•"/>
            </a:pPr>
            <a:r>
              <a:rPr lang="en-US" sz="1500">
                <a:solidFill>
                  <a:srgbClr val="E0E0E0"/>
                </a:solidFill>
                <a:latin typeface="Segoe UI"/>
              </a:rPr>
              <a:t>  Spring Boot + Thymeleaf Engine</a:t>
            </a:r>
          </a:p>
          <a:p>
            <a:pPr>
              <a:buClr>
                <a:srgbClr val="00F2FF"/>
              </a:buClr>
              <a:buFont typeface="Arial"/>
              <a:buChar char="•"/>
            </a:pPr>
            <a:r>
              <a:rPr lang="en-US" sz="1500">
                <a:solidFill>
                  <a:srgbClr val="E0E0E0"/>
                </a:solidFill>
                <a:latin typeface="Segoe UI"/>
              </a:rPr>
              <a:t>  Mô hình ứng dụng trang đơn (SPA) chạy AJAX mượt mà không reload trang</a:t>
            </a:r>
          </a:p>
          <a:p>
            <a:pPr>
              <a:buClr>
                <a:srgbClr val="00F2FF"/>
              </a:buClr>
              <a:buFont typeface="Arial"/>
              <a:buChar char="•"/>
            </a:pPr>
            <a:r>
              <a:rPr lang="en-US" sz="1500">
                <a:solidFill>
                  <a:srgbClr val="E0E0E0"/>
                </a:solidFill>
                <a:latin typeface="Segoe UI"/>
              </a:rPr>
              <a:t>  Giao diện tối tân (Dark Mode Cyberpunk HUD)</a:t>
            </a:r>
          </a:p>
          <a:p>
            <a:pPr>
              <a:buClr>
                <a:srgbClr val="00F2FF"/>
              </a:buClr>
              <a:buFont typeface="Arial"/>
              <a:buChar char="•"/>
            </a:pPr>
            <a:r>
              <a:rPr lang="en-US" sz="1500">
                <a:solidFill>
                  <a:srgbClr val="E0E0E0"/>
                </a:solidFill>
                <a:latin typeface="Segoe UI"/>
              </a:rPr>
              <a:t>  Đồng bộ hóa ảnh sản phẩm &amp; Lightbox modal</a:t>
            </a:r>
          </a:p>
        </p:txBody>
      </p:sp>
      <p:sp>
        <p:nvSpPr>
          <p:cNvPr name="TextBox 6" id="6"/>
          <p:cNvSpPr txBox="true"/>
          <p:nvPr/>
        </p:nvSpPr>
        <p:spPr>
          <a:xfrm>
            <a:off x="6350000" y="1778000"/>
            <a:ext cx="4826000" cy="3810000"/>
          </a:xfrm>
          <a:prstGeom prst="rect">
            <a:avLst/>
          </a:prstGeom>
        </p:spPr>
        <p:txBody>
          <a:bodyPr anchor="t" rtlCol="false"/>
          <a:lstStyle/>
          <a:p>
            <a:pPr algn="l">
              <a:defRPr/>
            </a:pPr>
            <a:r>
              <a:rPr lang="en-US"/>
              <a:t/>
            </a:r>
            <a:endParaRPr lang="en-US" sz="1100"/>
          </a:p>
          <a:p>
            <a:r>
              <a:rPr lang="en-US" sz="2000" b="true">
                <a:solidFill>
                  <a:srgbClr val="FFAA00"/>
                </a:solidFill>
                <a:latin typeface="Segoe UI"/>
              </a:rPr>
              <a:t>BACKEND (PORT 8080) &amp; DB</a:t>
            </a:r>
          </a:p>
          <a:p>
            <a:pPr>
              <a:buClr>
                <a:srgbClr val="00F2FF"/>
              </a:buClr>
              <a:buFont typeface="Arial"/>
              <a:buChar char="•"/>
            </a:pPr>
            <a:r>
              <a:rPr lang="en-US" sz="1500">
                <a:solidFill>
                  <a:srgbClr val="E0E0E0"/>
                </a:solidFill>
                <a:latin typeface="Segoe UI"/>
              </a:rPr>
              <a:t>  Spring Boot RESTful API</a:t>
            </a:r>
          </a:p>
          <a:p>
            <a:pPr>
              <a:buClr>
                <a:srgbClr val="00F2FF"/>
              </a:buClr>
              <a:buFont typeface="Arial"/>
              <a:buChar char="•"/>
            </a:pPr>
            <a:r>
              <a:rPr lang="en-US" sz="1500">
                <a:solidFill>
                  <a:srgbClr val="E0E0E0"/>
                </a:solidFill>
                <a:latin typeface="Segoe UI"/>
              </a:rPr>
              <a:t>  Spring Security + Xác thực JWT token không trạng thái (Stateless)</a:t>
            </a:r>
          </a:p>
          <a:p>
            <a:pPr>
              <a:buClr>
                <a:srgbClr val="00F2FF"/>
              </a:buClr>
              <a:buFont typeface="Arial"/>
              <a:buChar char="•"/>
            </a:pPr>
            <a:r>
              <a:rPr lang="en-US" sz="1500">
                <a:solidFill>
                  <a:srgbClr val="E0E0E0"/>
                </a:solidFill>
                <a:latin typeface="Segoe UI"/>
              </a:rPr>
              <a:t>  Spring Data JPA truy xuất MySQL Server</a:t>
            </a:r>
          </a:p>
          <a:p>
            <a:pPr>
              <a:buClr>
                <a:srgbClr val="00F2FF"/>
              </a:buClr>
              <a:buFont typeface="Arial"/>
              <a:buChar char="•"/>
            </a:pPr>
            <a:r>
              <a:rPr lang="en-US" sz="1500">
                <a:solidFill>
                  <a:srgbClr val="E0E0E0"/>
                </a:solidFill>
                <a:latin typeface="Segoe UI"/>
              </a:rPr>
              <a:t>  MySQL Database chứa các bảng: users, products, categories, suppliers, customer, stock_in/out, audit_logs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MA TRẬN PHÂN QUYỀN (AUTHORIZATION MATRIX)</a:t>
            </a:r>
          </a:p>
        </p:txBody>
      </p:sp>
      <p:sp>
        <p:nvSpPr>
          <p:cNvPr name="AutoShape 4" id="4"/>
          <p:cNvSpPr/>
          <p:nvPr/>
        </p:nvSpPr>
        <p:spPr>
          <a:xfrm>
            <a:off x="635000" y="1143000"/>
            <a:ext cx="10922000" cy="25400"/>
          </a:xfrm>
          <a:prstGeom prst="rect">
            <a:avLst/>
          </a:prstGeom>
          <a:solidFill>
            <a:srgbClr val="00F2FF">
              <a:alpha val="39216"/>
            </a:srgbClr>
          </a:solidFill>
          <a:ln>
            <a:noFill/>
          </a:ln>
        </p:spPr>
      </p:sp>
      <p:graphicFrame>
        <p:nvGraphicFramePr>
          <p:cNvPr name="Table 5" id="5"/>
          <p:cNvGraphicFramePr>
            <a:graphicFrameLocks noGrp="true"/>
          </p:cNvGraphicFramePr>
          <p:nvPr/>
        </p:nvGraphicFramePr>
        <p:xfrm>
          <a:off x="1016000" y="1651000"/>
          <a:ext cx="10160000" cy="4445000"/>
        </p:xfrm>
        <a:graphic>
          <a:graphicData uri="http://schemas.openxmlformats.org/drawingml/2006/table">
            <a:tbl>
              <a:tblPr/>
              <a:tblGrid>
                <a:gridCol w="3175000"/>
                <a:gridCol w="3492500"/>
                <a:gridCol w="3492500"/>
              </a:tblGrid>
              <a:tr h="508000">
                <a:tc>
                  <a:txBody>
                    <a:bodyPr anchor="t" rtlCol="false"/>
                    <a:lstStyle/>
                    <a:p>
                      <a:pPr algn="ctr">
                        <a:defRPr/>
                      </a:pPr>
                      <a:r>
                        <a:rPr lang="en-US" sz="1400" b="true">
                          <a:solidFill>
                            <a:srgbClr val="00F2FF"/>
                          </a:solidFill>
                          <a:latin typeface="Segoe UI"/>
                        </a:rPr>
                        <a:t>MÔ ĐUN / CHỨC NĂNG</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0F2FF">
                        <a:alpha val="15686"/>
                      </a:srgbClr>
                    </a:solidFill>
                  </a:tcPr>
                </a:tc>
                <a:tc>
                  <a:txBody>
                    <a:bodyPr anchor="t" rtlCol="false"/>
                    <a:lstStyle/>
                    <a:p>
                      <a:pPr algn="ctr">
                        <a:defRPr/>
                      </a:pPr>
                      <a:r>
                        <a:rPr lang="en-US" sz="1400" b="true">
                          <a:solidFill>
                            <a:srgbClr val="00F2FF"/>
                          </a:solidFill>
                          <a:latin typeface="Segoe UI"/>
                        </a:rPr>
                        <a:t>VAI TRÒ ADMIN</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0F2FF">
                        <a:alpha val="15686"/>
                      </a:srgbClr>
                    </a:solidFill>
                  </a:tcPr>
                </a:tc>
                <a:tc>
                  <a:txBody>
                    <a:bodyPr anchor="t" rtlCol="false"/>
                    <a:lstStyle/>
                    <a:p>
                      <a:pPr algn="ctr">
                        <a:defRPr/>
                      </a:pPr>
                      <a:r>
                        <a:rPr lang="en-US" sz="1400" b="true">
                          <a:solidFill>
                            <a:srgbClr val="00F2FF"/>
                          </a:solidFill>
                          <a:latin typeface="Segoe UI"/>
                        </a:rPr>
                        <a:t>VAI TRÒ STAFF (NHÂN VIÊN)</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0F2FF">
                        <a:alpha val="15686"/>
                      </a:srgbClr>
                    </a:solidFill>
                  </a:tcPr>
                </a:tc>
              </a:tr>
              <a:tr h="508000">
                <a:tc>
                  <a:txBody>
                    <a:bodyPr anchor="t" rtlCol="false"/>
                    <a:lstStyle/>
                    <a:p>
                      <a:pPr algn="ctr">
                        <a:defRPr/>
                      </a:pPr>
                      <a:r>
                        <a:rPr lang="en-US" sz="1300" b="false">
                          <a:solidFill>
                            <a:srgbClr val="E0E0E0"/>
                          </a:solidFill>
                          <a:latin typeface="Segoe UI"/>
                        </a:rPr>
                        <a:t>Sản Phẩm &amp; Danh Mục</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Toàn quyền (Xem, Thêm, Sửa, Xóa)</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Chỉ được phép Xem (Read-Only)</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r>
              <a:tr h="508000">
                <a:tc>
                  <a:txBody>
                    <a:bodyPr anchor="t" rtlCol="false"/>
                    <a:lstStyle/>
                    <a:p>
                      <a:pPr algn="ctr">
                        <a:defRPr/>
                      </a:pPr>
                      <a:r>
                        <a:rPr lang="en-US" sz="1300" b="false">
                          <a:solidFill>
                            <a:srgbClr val="E0E0E0"/>
                          </a:solidFill>
                          <a:latin typeface="Segoe UI"/>
                        </a:rPr>
                        <a:t>Khách Hàng &amp; Nhà CC</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Toàn quyền (Xem, Thêm, Sửa, Xóa)</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Chỉ được phép Xem (Read-Only)</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r>
              <a:tr h="508000">
                <a:tc>
                  <a:txBody>
                    <a:bodyPr anchor="t" rtlCol="false"/>
                    <a:lstStyle/>
                    <a:p>
                      <a:pPr algn="ctr">
                        <a:defRPr/>
                      </a:pPr>
                      <a:r>
                        <a:rPr lang="en-US" sz="1300" b="false">
                          <a:solidFill>
                            <a:srgbClr val="E0E0E0"/>
                          </a:solidFill>
                          <a:latin typeface="Segoe UI"/>
                        </a:rPr>
                        <a:t>Lập Phiếu Nhập / Xuất</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Cho phép lập phiếu nháp PENDING</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Cho phép lập phiếu nháp PENDING</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r>
              <a:tr h="508000">
                <a:tc>
                  <a:txBody>
                    <a:bodyPr anchor="t" rtlCol="false"/>
                    <a:lstStyle/>
                    <a:p>
                      <a:pPr algn="ctr">
                        <a:defRPr/>
                      </a:pPr>
                      <a:r>
                        <a:rPr lang="en-US" sz="1300" b="false">
                          <a:solidFill>
                            <a:srgbClr val="E0E0E0"/>
                          </a:solidFill>
                          <a:latin typeface="Segoe UI"/>
                        </a:rPr>
                        <a:t>Phê Duyệt Phiếu</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Duyệt (COMPLETED) hoặc Hủy (CANCELLED)</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Bị chặn hoàn toàn (Ẩn nút &amp; Chặn API)</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r>
              <a:tr h="508000">
                <a:tc>
                  <a:txBody>
                    <a:bodyPr anchor="t" rtlCol="false"/>
                    <a:lstStyle/>
                    <a:p>
                      <a:pPr algn="ctr">
                        <a:defRPr/>
                      </a:pPr>
                      <a:r>
                        <a:rPr lang="en-US" sz="1300" b="false">
                          <a:solidFill>
                            <a:srgbClr val="E0E0E0"/>
                          </a:solidFill>
                          <a:latin typeface="Segoe UI"/>
                        </a:rPr>
                        <a:t>Nhật Ký Hệ Thống</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Xem &amp; Bộ lọc Audit Logs</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Bị chặn hoàn toàn (Chặn truy cập)</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r>
              <a:tr h="508000">
                <a:tc>
                  <a:txBody>
                    <a:bodyPr anchor="t" rtlCol="false"/>
                    <a:lstStyle/>
                    <a:p>
                      <a:pPr algn="ctr">
                        <a:defRPr/>
                      </a:pPr>
                      <a:r>
                        <a:rPr lang="en-US" sz="1300" b="false">
                          <a:solidFill>
                            <a:srgbClr val="E0E0E0"/>
                          </a:solidFill>
                          <a:latin typeface="Segoe UI"/>
                        </a:rPr>
                        <a:t>Phạm Vi Giao Dịch</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Xem và phê duyệt phiếu của mọi tài khoản</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c>
                  <a:txBody>
                    <a:bodyPr anchor="t" rtlCol="false"/>
                    <a:lstStyle/>
                    <a:p>
                      <a:pPr algn="ctr">
                        <a:defRPr/>
                      </a:pPr>
                      <a:r>
                        <a:rPr lang="en-US" sz="1300" b="false">
                          <a:solidFill>
                            <a:srgbClr val="E0E0E0"/>
                          </a:solidFill>
                          <a:latin typeface="Segoe UI"/>
                        </a:rPr>
                        <a:t>Chỉ thấy các phiếu do chính mình tạo</a:t>
                      </a:r>
                      <a:endParaRPr lang="en-US" sz="1100"/>
                    </a:p>
                  </a:txBody>
                  <a:tcPr>
                    <a:lnL cmpd="sng" algn="ctr" cap="flat" w="6350">
                      <a:solidFill>
                        <a:srgbClr val="00F2FF">
                          <a:alpha val="11765"/>
                        </a:srgbClr>
                      </a:solidFill>
                      <a:prstDash val="solid"/>
                      <a:round/>
                      <a:headEnd type="none" w="med" len="med"/>
                      <a:tailEnd type="none" w="med" len="med"/>
                    </a:lnL>
                    <a:lnR cmpd="sng" algn="ctr" cap="flat" w="6350">
                      <a:solidFill>
                        <a:srgbClr val="00F2FF">
                          <a:alpha val="11765"/>
                        </a:srgbClr>
                      </a:solidFill>
                      <a:prstDash val="solid"/>
                      <a:round/>
                      <a:headEnd type="none" w="med" len="med"/>
                      <a:tailEnd type="none" w="med" len="med"/>
                    </a:lnR>
                    <a:lnT cmpd="sng" algn="ctr" cap="flat" w="6350">
                      <a:solidFill>
                        <a:srgbClr val="00F2FF">
                          <a:alpha val="11765"/>
                        </a:srgbClr>
                      </a:solidFill>
                      <a:prstDash val="solid"/>
                      <a:round/>
                      <a:headEnd type="none" w="med" len="med"/>
                      <a:tailEnd type="none" w="med" len="med"/>
                    </a:lnT>
                    <a:lnB cmpd="sng" algn="ctr" cap="flat" w="12700">
                      <a:solidFill>
                        <a:srgbClr val="00F2FF">
                          <a:alpha val="31373"/>
                        </a:srgbClr>
                      </a:solidFill>
                      <a:prstDash val="solid"/>
                      <a:round/>
                      <a:headEnd type="none" w="med" len="med"/>
                      <a:tailEnd type="none" w="med" len="med"/>
                    </a:lnB>
                    <a:solidFill>
                      <a:srgbClr val="0A0F19">
                        <a:alpha val="31373"/>
                      </a:srgbClr>
                    </a:solidFill>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NGHIỆP VỤ NHẬP &amp; XUẤT KHO CỐT LÕI</a:t>
            </a:r>
          </a:p>
        </p:txBody>
      </p:sp>
      <p:sp>
        <p:nvSpPr>
          <p:cNvPr name="AutoShape 4" id="4"/>
          <p:cNvSpPr/>
          <p:nvPr/>
        </p:nvSpPr>
        <p:spPr>
          <a:xfrm>
            <a:off x="635000" y="1143000"/>
            <a:ext cx="10922000" cy="25400"/>
          </a:xfrm>
          <a:prstGeom prst="rect">
            <a:avLst/>
          </a:prstGeom>
          <a:solidFill>
            <a:srgbClr val="00F2FF">
              <a:alpha val="39216"/>
            </a:srgbClr>
          </a:solidFill>
          <a:ln>
            <a:noFill/>
          </a:ln>
        </p:spPr>
      </p:sp>
      <p:sp>
        <p:nvSpPr>
          <p:cNvPr name="TextBox 5" id="5"/>
          <p:cNvSpPr txBox="true"/>
          <p:nvPr/>
        </p:nvSpPr>
        <p:spPr>
          <a:xfrm>
            <a:off x="1016000" y="1651000"/>
            <a:ext cx="10160000" cy="4445000"/>
          </a:xfrm>
          <a:prstGeom prst="rect">
            <a:avLst/>
          </a:prstGeom>
        </p:spPr>
        <p:txBody>
          <a:bodyPr anchor="t" rtlCol="false"/>
          <a:lstStyle/>
          <a:p>
            <a:pPr algn="l">
              <a:defRPr/>
            </a:pPr>
            <a:r>
              <a:rPr lang="en-US"/>
              <a:t/>
            </a:r>
            <a:endParaRPr lang="en-US" sz="1100"/>
          </a:p>
          <a:p>
            <a:pPr>
              <a:buClr>
                <a:srgbClr val="FFAA00"/>
              </a:buClr>
              <a:buFont typeface="Arial"/>
              <a:buChar char="•"/>
            </a:pPr>
            <a:r>
              <a:rPr lang="en-US" sz="1600">
                <a:solidFill>
                  <a:srgbClr val="E0E0E0"/>
                </a:solidFill>
                <a:latin typeface="Segoe UI"/>
              </a:rPr>
              <a:t>  Nguyên tắc Khóa Số Liệu Trực Tiếp: Khóa chi tiết tồn kho, giá nhập và giá bán trên trang Sản phẩm. Chỉ cho phép cập nhật số liệu tự động thông qua phê duyệt phiếu nhập/xuất để tránh sai lệch số liệu thủ công.</a:t>
            </a:r>
          </a:p>
          <a:p>
            <a:pPr>
              <a:buClr>
                <a:srgbClr val="FFAA00"/>
              </a:buClr>
              <a:buFont typeface="Arial"/>
              <a:buChar char="•"/>
            </a:pPr>
            <a:r>
              <a:rPr lang="en-US" sz="1600">
                <a:solidFill>
                  <a:srgbClr val="E0E0E0"/>
                </a:solidFill>
                <a:latin typeface="Segoe UI"/>
              </a:rPr>
              <a:t>  Cơ chế Kiểm soát Tồn Kho (Stock Validation): Kiểm tra số lượng tồn kho khả dụng trước khi lập phiếu xuất. Nếu số lượng xuất vượt quá tồn kho khả dụng, hệ thống cảnh báo tức thì ở cả Client-side (Frontend) và Server-side (Backend), chặn đứng hành vi tạo phiếu.</a:t>
            </a:r>
          </a:p>
          <a:p>
            <a:pPr>
              <a:buClr>
                <a:srgbClr val="FFAA00"/>
              </a:buClr>
              <a:buFont typeface="Arial"/>
              <a:buChar char="•"/>
            </a:pPr>
            <a:r>
              <a:rPr lang="en-US" sz="1600">
                <a:solidFill>
                  <a:srgbClr val="E0E0E0"/>
                </a:solidFill>
                <a:latin typeface="Segoe UI"/>
              </a:rPr>
              <a:t>  Phân chia Trạng Thái Phiếu: Phiếu khởi tạo mặc định là PENDING (chờ duyệt) và chưa tác động đến tồn kho. Chỉ khi ADMIN phê duyệt chuyển trạng thái sang COMPLETED thì Backend mới chính thức cộng/trừ tồn kho.</a:t>
            </a:r>
          </a:p>
          <a:p>
            <a:pPr>
              <a:buClr>
                <a:srgbClr val="FFAA00"/>
              </a:buClr>
              <a:buFont typeface="Arial"/>
              <a:buChar char="•"/>
            </a:pPr>
            <a:r>
              <a:rPr lang="en-US" sz="1600">
                <a:solidFill>
                  <a:srgbClr val="E0E0E0"/>
                </a:solidFill>
                <a:latin typeface="Segoe UI"/>
              </a:rPr>
              <a:t>  Tính giá xuất bình quan gia quyền tích lũy: Khi phiếu xuất kho được duyệt thành công (COMPLETED), Backend tự động tính toán lại Giá xuất trung bình dựa trên tổng lượng đã bán và lũy kế giá trị xuất để cập nhật giá trị tài chính chính xác.</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ĐẶC TÍNH KỸ THUẬT &amp; TỐI ƯU HÓA</a:t>
            </a:r>
          </a:p>
        </p:txBody>
      </p:sp>
      <p:sp>
        <p:nvSpPr>
          <p:cNvPr name="AutoShape 4" id="4"/>
          <p:cNvSpPr/>
          <p:nvPr/>
        </p:nvSpPr>
        <p:spPr>
          <a:xfrm>
            <a:off x="635000" y="1143000"/>
            <a:ext cx="10922000" cy="25400"/>
          </a:xfrm>
          <a:prstGeom prst="rect">
            <a:avLst/>
          </a:prstGeom>
          <a:solidFill>
            <a:srgbClr val="00F2FF">
              <a:alpha val="39216"/>
            </a:srgbClr>
          </a:solidFill>
          <a:ln>
            <a:noFill/>
          </a:ln>
        </p:spPr>
      </p:sp>
      <p:sp>
        <p:nvSpPr>
          <p:cNvPr name="TextBox 5" id="5"/>
          <p:cNvSpPr txBox="true"/>
          <p:nvPr/>
        </p:nvSpPr>
        <p:spPr>
          <a:xfrm>
            <a:off x="1016000" y="1778000"/>
            <a:ext cx="4826000" cy="3810000"/>
          </a:xfrm>
          <a:prstGeom prst="rect">
            <a:avLst/>
          </a:prstGeom>
        </p:spPr>
        <p:txBody>
          <a:bodyPr anchor="t" rtlCol="false"/>
          <a:lstStyle/>
          <a:p>
            <a:pPr algn="l">
              <a:defRPr/>
            </a:pPr>
            <a:r>
              <a:rPr lang="en-US"/>
              <a:t/>
            </a:r>
            <a:endParaRPr lang="en-US" sz="1100"/>
          </a:p>
          <a:p>
            <a:r>
              <a:rPr lang="en-US" sz="2000" b="true">
                <a:solidFill>
                  <a:srgbClr val="FFAA00"/>
                </a:solidFill>
                <a:latin typeface="Segoe UI"/>
              </a:rPr>
              <a:t>HIỆU NĂNG &amp; TRẠI NGHIỆM</a:t>
            </a:r>
          </a:p>
          <a:p>
            <a:pPr>
              <a:buClr>
                <a:srgbClr val="00F2FF"/>
              </a:buClr>
              <a:buFont typeface="Arial"/>
              <a:buChar char="•"/>
            </a:pPr>
            <a:r>
              <a:rPr lang="en-US" sz="1400">
                <a:solidFill>
                  <a:srgbClr val="E0E0E0"/>
                </a:solidFill>
                <a:latin typeface="Segoe UI"/>
              </a:rPr>
              <a:t>  Excel Streaming (SXSSFWorkbook): Ghi nén đĩa trực tiếp với bộ đệm 100 dòng, giải quyết triệt để rủi ro tràn bộ nhớ RAM (OutOfMemoryError) khi xuất dữ liệu lớn.</a:t>
            </a:r>
          </a:p>
          <a:p>
            <a:pPr>
              <a:buClr>
                <a:srgbClr val="00F2FF"/>
              </a:buClr>
              <a:buFont typeface="Arial"/>
              <a:buChar char="•"/>
            </a:pPr>
            <a:r>
              <a:rPr lang="en-US" sz="1400">
                <a:solidFill>
                  <a:srgbClr val="E0E0E0"/>
                </a:solidFill>
                <a:latin typeface="Segoe UI"/>
              </a:rPr>
              <a:t>  Trải nghiệm SPA (AJAX Engine): Tải trang không reload thông qua nạp phân mảnh Thymeleaf kết hợp với AJAX, giúp hệ thống phản hồi cực nhanh.</a:t>
            </a:r>
          </a:p>
          <a:p>
            <a:pPr>
              <a:buClr>
                <a:srgbClr val="00F2FF"/>
              </a:buClr>
              <a:buFont typeface="Arial"/>
              <a:buChar char="•"/>
            </a:pPr>
            <a:r>
              <a:rPr lang="en-US" sz="1400">
                <a:solidFill>
                  <a:srgbClr val="E0E0E0"/>
                </a:solidFill>
                <a:latin typeface="Segoe UI"/>
              </a:rPr>
              <a:t>  Xuất báo cáo Excel chuyên nghiệp: Tự động giãn cột, căn chỉnh cột dữ liệu, định dạng tiền tệ chuyên sâu và gán công thức tính tổng sum động của Excel.</a:t>
            </a:r>
          </a:p>
        </p:txBody>
      </p:sp>
      <p:sp>
        <p:nvSpPr>
          <p:cNvPr name="TextBox 6" id="6"/>
          <p:cNvSpPr txBox="true"/>
          <p:nvPr/>
        </p:nvSpPr>
        <p:spPr>
          <a:xfrm>
            <a:off x="6350000" y="1778000"/>
            <a:ext cx="4826000" cy="3810000"/>
          </a:xfrm>
          <a:prstGeom prst="rect">
            <a:avLst/>
          </a:prstGeom>
        </p:spPr>
        <p:txBody>
          <a:bodyPr anchor="t" rtlCol="false"/>
          <a:lstStyle/>
          <a:p>
            <a:pPr algn="l">
              <a:defRPr/>
            </a:pPr>
            <a:r>
              <a:rPr lang="en-US"/>
              <a:t/>
            </a:r>
            <a:endParaRPr lang="en-US" sz="1100"/>
          </a:p>
          <a:p>
            <a:r>
              <a:rPr lang="en-US" sz="2000" b="true">
                <a:solidFill>
                  <a:srgbClr val="FFAA00"/>
                </a:solidFill>
                <a:latin typeface="Segoe UI"/>
              </a:rPr>
              <a:t>BẢO MẬT &amp; DỌN DẸP</a:t>
            </a:r>
          </a:p>
          <a:p>
            <a:pPr>
              <a:buClr>
                <a:srgbClr val="00F2FF"/>
              </a:buClr>
              <a:buFont typeface="Arial"/>
              <a:buChar char="•"/>
            </a:pPr>
            <a:r>
              <a:rPr lang="en-US" sz="1400">
                <a:solidFill>
                  <a:srgbClr val="E0E0E0"/>
                </a:solidFill>
                <a:latin typeface="Segoe UI"/>
              </a:rPr>
              <a:t>  JWT Authentication (Stateless): Xác thực qua JWT token đính kèm ở Header. Không dùng HttpSession giúp API dễ dàng mở rộng sang các hệ thống khác.</a:t>
            </a:r>
          </a:p>
          <a:p>
            <a:pPr>
              <a:buClr>
                <a:srgbClr val="00F2FF"/>
              </a:buClr>
              <a:buFont typeface="Arial"/>
              <a:buChar char="•"/>
            </a:pPr>
            <a:r>
              <a:rPr lang="en-US" sz="1400">
                <a:solidFill>
                  <a:srgbClr val="E0E0E0"/>
                </a:solidFill>
                <a:latin typeface="Segoe UI"/>
              </a:rPr>
              <a:t>  Đồng bộ ảnh &amp; Dọn dẹp đĩa cứng: Khi cập nhật ảnh mới hoặc xóa sản phẩm, hệ thống tự động xóa file vật lý cũ trong thư mục uploads để tránh lãng phí dung lượng ổ cứng.</a:t>
            </a:r>
          </a:p>
          <a:p>
            <a:pPr>
              <a:buClr>
                <a:srgbClr val="00F2FF"/>
              </a:buClr>
              <a:buFont typeface="Arial"/>
              <a:buChar char="•"/>
            </a:pPr>
            <a:r>
              <a:rPr lang="en-US" sz="1400">
                <a:solidFill>
                  <a:srgbClr val="E0E0E0"/>
                </a:solidFill>
                <a:latin typeface="Segoe UI"/>
              </a:rPr>
              <a:t>  Tomcat Temp folder fix: Khắc phục lỗi Tomcat temp directory bằng cơ chế Java NIO Files.copy ghi đĩa tuyệt đối.</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CÁC NÂNG CẤP MỚI HOÀN THÀNH GẦN ĐÂY</a:t>
            </a:r>
          </a:p>
        </p:txBody>
      </p:sp>
      <p:sp>
        <p:nvSpPr>
          <p:cNvPr name="AutoShape 4" id="4"/>
          <p:cNvSpPr/>
          <p:nvPr/>
        </p:nvSpPr>
        <p:spPr>
          <a:xfrm>
            <a:off x="635000" y="1143000"/>
            <a:ext cx="10922000" cy="25400"/>
          </a:xfrm>
          <a:prstGeom prst="rect">
            <a:avLst/>
          </a:prstGeom>
          <a:solidFill>
            <a:srgbClr val="00F2FF">
              <a:alpha val="39216"/>
            </a:srgbClr>
          </a:solidFill>
          <a:ln>
            <a:noFill/>
          </a:ln>
        </p:spPr>
      </p:sp>
      <p:sp>
        <p:nvSpPr>
          <p:cNvPr name="TextBox 5" id="5"/>
          <p:cNvSpPr txBox="true"/>
          <p:nvPr/>
        </p:nvSpPr>
        <p:spPr>
          <a:xfrm>
            <a:off x="1016000" y="1651000"/>
            <a:ext cx="10160000" cy="4445000"/>
          </a:xfrm>
          <a:prstGeom prst="rect">
            <a:avLst/>
          </a:prstGeom>
        </p:spPr>
        <p:txBody>
          <a:bodyPr anchor="t" rtlCol="false"/>
          <a:lstStyle/>
          <a:p>
            <a:pPr algn="l">
              <a:defRPr/>
            </a:pPr>
            <a:r>
              <a:rPr lang="en-US"/>
              <a:t/>
            </a:r>
            <a:endParaRPr lang="en-US" sz="1100"/>
          </a:p>
          <a:p>
            <a:pPr>
              <a:buClr>
                <a:srgbClr val="FFAA00"/>
              </a:buClr>
              <a:buFont typeface="Arial"/>
              <a:buChar char="•"/>
            </a:pPr>
            <a:r>
              <a:rPr lang="en-US" sz="1500">
                <a:solidFill>
                  <a:srgbClr val="E0E0E0"/>
                </a:solidFill>
                <a:latin typeface="Segoe UI"/>
              </a:rPr>
              <a:t>  Khắc phục lỗi Tomcat Temp Directory (Tải ảnh): Sử dụng Java NIO ghi đĩa tuyệt đối, giải quyết triệt để lỗi FileNotFoundException khi Tomcat tự động dọn dẹp thư mục tạm.</a:t>
            </a:r>
          </a:p>
          <a:p>
            <a:pPr>
              <a:buClr>
                <a:srgbClr val="FFAA00"/>
              </a:buClr>
              <a:buFont typeface="Arial"/>
              <a:buChar char="•"/>
            </a:pPr>
            <a:r>
              <a:rPr lang="en-US" sz="1500">
                <a:solidFill>
                  <a:srgbClr val="E0E0E0"/>
                </a:solidFill>
                <a:latin typeface="Segoe UI"/>
              </a:rPr>
              <a:t>  Cột hiển thị thông tin kép: Thêm cột 'Tài Khoản' hiển thị username kế bên cột 'Người Lập' hiển thị fullName trên cả hai bảng Nhập kho và Xuất kho.</a:t>
            </a:r>
          </a:p>
          <a:p>
            <a:pPr>
              <a:buClr>
                <a:srgbClr val="FFAA00"/>
              </a:buClr>
              <a:buFont typeface="Arial"/>
              <a:buChar char="•"/>
            </a:pPr>
            <a:r>
              <a:rPr lang="en-US" sz="1500">
                <a:solidFill>
                  <a:srgbClr val="E0E0E0"/>
                </a:solidFill>
                <a:latin typeface="Segoe UI"/>
              </a:rPr>
              <a:t>  Tự động điền &amp; Kiểm tra Tồn Kho Real-time: Thêm ô 'Tồn kho hiện tại' (bị vô hiệu hóa, chữ cam phát sáng) tự động cập nhật tồn kho khi chọn sản phẩm ở Modal Xuất kho. Chặn ngay tại chỗ (Client-side) nếu người dùng nhập số lượng vượt quá tồn kho khả dụng.</a:t>
            </a:r>
          </a:p>
          <a:p>
            <a:pPr>
              <a:buClr>
                <a:srgbClr val="FFAA00"/>
              </a:buClr>
              <a:buFont typeface="Arial"/>
              <a:buChar char="•"/>
            </a:pPr>
            <a:r>
              <a:rPr lang="en-US" sz="1500">
                <a:solidFill>
                  <a:srgbClr val="E0E0E0"/>
                </a:solidFill>
                <a:latin typeface="Segoe UI"/>
              </a:rPr>
              <a:t>  Phân quyền theo tài khoản nhân viên (User Scoping): Nhân viên vận hành chỉ thấy và thao tác được các phiếu Nhập/Xuất kho do chính mình tạo ra. ADMIN có quyền xem và phê duyệt toàn bộ chứng từ hệ thống.</a:t>
            </a:r>
          </a:p>
          <a:p>
            <a:pPr>
              <a:buClr>
                <a:srgbClr val="FFAA00"/>
              </a:buClr>
              <a:buFont typeface="Arial"/>
              <a:buChar char="•"/>
            </a:pPr>
            <a:r>
              <a:rPr lang="en-US" sz="1500">
                <a:solidFill>
                  <a:srgbClr val="E0E0E0"/>
                </a:solidFill>
                <a:latin typeface="Segoe UI"/>
              </a:rPr>
              <a:t>  Audit log mở rộng: Thêm cột 'Họ Tên' lấy fullName kế bên 'Tài Khoản' (username) trong danh sách Nhật ký hoạt động hệ thống.</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0" y="0"/>
            <a:ext cx="12192000" cy="6858000"/>
          </a:xfrm>
          <a:prstGeom prst="rect">
            <a:avLst/>
          </a:prstGeom>
          <a:solidFill>
            <a:srgbClr val="0A0F19"/>
          </a:solidFill>
          <a:ln>
            <a:noFill/>
          </a:ln>
        </p:spPr>
      </p:sp>
      <p:sp>
        <p:nvSpPr>
          <p:cNvPr name="TextBox 3" id="3"/>
          <p:cNvSpPr txBox="true"/>
          <p:nvPr/>
        </p:nvSpPr>
        <p:spPr>
          <a:xfrm>
            <a:off x="635000" y="381000"/>
            <a:ext cx="10922000" cy="762000"/>
          </a:xfrm>
          <a:prstGeom prst="rect">
            <a:avLst/>
          </a:prstGeom>
        </p:spPr>
        <p:txBody>
          <a:bodyPr anchor="t" rtlCol="false"/>
          <a:lstStyle/>
          <a:p>
            <a:pPr algn="l">
              <a:defRPr/>
            </a:pPr>
            <a:r>
              <a:rPr lang="en-US"/>
              <a:t/>
            </a:r>
            <a:endParaRPr lang="en-US" sz="1100"/>
          </a:p>
          <a:p>
            <a:r>
              <a:rPr lang="en-US" sz="2400" b="true">
                <a:solidFill>
                  <a:srgbClr val="00F2FF"/>
                </a:solidFill>
                <a:latin typeface="Segoe UI"/>
              </a:rPr>
              <a:t>HƯỚNG DẪN VẬN HÀNH &amp; KẾT LUẬN</a:t>
            </a:r>
          </a:p>
        </p:txBody>
      </p:sp>
      <p:sp>
        <p:nvSpPr>
          <p:cNvPr name="AutoShape 4" id="4"/>
          <p:cNvSpPr/>
          <p:nvPr/>
        </p:nvSpPr>
        <p:spPr>
          <a:xfrm>
            <a:off x="635000" y="1143000"/>
            <a:ext cx="10922000" cy="25400"/>
          </a:xfrm>
          <a:prstGeom prst="rect">
            <a:avLst/>
          </a:prstGeom>
          <a:solidFill>
            <a:srgbClr val="00F2FF">
              <a:alpha val="39216"/>
            </a:srgbClr>
          </a:solidFill>
          <a:ln>
            <a:noFill/>
          </a:ln>
        </p:spPr>
      </p:sp>
      <p:sp>
        <p:nvSpPr>
          <p:cNvPr name="TextBox 5" id="5"/>
          <p:cNvSpPr txBox="true"/>
          <p:nvPr/>
        </p:nvSpPr>
        <p:spPr>
          <a:xfrm>
            <a:off x="1016000" y="1651000"/>
            <a:ext cx="10160000" cy="4445000"/>
          </a:xfrm>
          <a:prstGeom prst="rect">
            <a:avLst/>
          </a:prstGeom>
        </p:spPr>
        <p:txBody>
          <a:bodyPr anchor="t" rtlCol="false"/>
          <a:lstStyle/>
          <a:p>
            <a:pPr algn="l">
              <a:defRPr/>
            </a:pPr>
            <a:r>
              <a:rPr lang="en-US"/>
              <a:t/>
            </a:r>
            <a:endParaRPr lang="en-US" sz="1100"/>
          </a:p>
          <a:p>
            <a:pPr>
              <a:buClr>
                <a:srgbClr val="FFAA00"/>
              </a:buClr>
              <a:buFont typeface="Arial"/>
              <a:buChar char="•"/>
            </a:pPr>
            <a:r>
              <a:rPr lang="en-US" sz="1600">
                <a:solidFill>
                  <a:srgbClr val="E0E0E0"/>
                </a:solidFill>
                <a:latin typeface="Segoe UI"/>
              </a:rPr>
              <a:t>  Bước 1: Khởi động MySQL database server cục bộ trên cổng 3306.</a:t>
            </a:r>
          </a:p>
          <a:p>
            <a:pPr>
              <a:buClr>
                <a:srgbClr val="FFAA00"/>
              </a:buClr>
              <a:buFont typeface="Arial"/>
              <a:buChar char="•"/>
            </a:pPr>
            <a:r>
              <a:rPr lang="en-US" sz="1600">
                <a:solidFill>
                  <a:srgbClr val="E0E0E0"/>
                </a:solidFill>
                <a:latin typeface="Segoe UI"/>
              </a:rPr>
              <a:t>  Bước 2: Chạy dự án Backend API ('API_JAVA-main') trên cổng 8080. Đảm bảo cấu hình biến môi trường JWT_SECRET_KEY.</a:t>
            </a:r>
          </a:p>
          <a:p>
            <a:pPr>
              <a:buClr>
                <a:srgbClr val="FFAA00"/>
              </a:buClr>
              <a:buFont typeface="Arial"/>
              <a:buChar char="•"/>
            </a:pPr>
            <a:r>
              <a:rPr lang="en-US" sz="1600">
                <a:solidFill>
                  <a:srgbClr val="E0E0E0"/>
                </a:solidFill>
                <a:latin typeface="Segoe UI"/>
              </a:rPr>
              <a:t>  Bước 3: Chạy dự án Frontend UI ('FEJAVA2') trên cổng 8081.</a:t>
            </a:r>
          </a:p>
          <a:p>
            <a:pPr>
              <a:buClr>
                <a:srgbClr val="FFAA00"/>
              </a:buClr>
              <a:buFont typeface="Arial"/>
              <a:buChar char="•"/>
            </a:pPr>
            <a:r>
              <a:rPr lang="en-US" sz="1600">
                <a:solidFill>
                  <a:srgbClr val="E0E0E0"/>
                </a:solidFill>
                <a:latin typeface="Segoe UI"/>
              </a:rPr>
              <a:t>  Bước 4: Truy cập ứng dụng qua trình duyệt tại địa chỉ http://localhost:8081/login.</a:t>
            </a:r>
          </a:p>
          <a:p>
            <a:pPr>
              <a:buClr>
                <a:srgbClr val="FFAA00"/>
              </a:buClr>
              <a:buFont typeface="Arial"/>
              <a:buChar char="•"/>
            </a:pPr>
            <a:r>
              <a:rPr lang="en-US" sz="1600">
                <a:solidFill>
                  <a:srgbClr val="E0E0E0"/>
                </a:solidFill>
                <a:latin typeface="Segoe UI"/>
              </a:rPr>
              <a:t>  Kết luận: Dự án hoàn thành xuất sắc tất cả yêu cầu về bảo mật phân quyền, kiểm soát dữ liệu tự động chống sai lệch, xuất file Excel dung lượng lớn hiệu năng cao, giao diện đồng bộ hiện đại Cyberpunk mang lại trải nghiệm người dùng tối ưu.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